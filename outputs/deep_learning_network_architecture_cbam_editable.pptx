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6035040" cy="384048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Arial"/>
              </a:rPr>
              <a:t>ResNet-CBAM Network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2907792"/>
            <a:ext cx="822960" cy="868680"/>
          </a:xfrm>
          <a:prstGeom prst="roundRect">
            <a:avLst>
              <a:gd name="adj" fmla="val 18000"/>
            </a:avLst>
          </a:prstGeom>
          <a:solidFill>
            <a:srgbClr val="F3F4F6"/>
          </a:solidFill>
          <a:ln w="1587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200" b="1">
                <a:solidFill>
                  <a:srgbClr val="111827"/>
                </a:solidFill>
                <a:latin typeface="Arial"/>
              </a:rPr>
              <a:t>Input</a:t>
            </a:r>
          </a:p>
          <a:p>
            <a:pPr algn="ctr"/>
            <a:r>
              <a:rPr sz="1200" b="1">
                <a:solidFill>
                  <a:srgbClr val="111827"/>
                </a:solidFill>
                <a:latin typeface="Arial"/>
              </a:rPr>
              <a:t>224 x 224 x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70432" y="2907792"/>
            <a:ext cx="1097280" cy="868680"/>
          </a:xfrm>
          <a:prstGeom prst="roundRect">
            <a:avLst>
              <a:gd name="adj" fmla="val 18000"/>
            </a:avLst>
          </a:prstGeom>
          <a:solidFill>
            <a:srgbClr val="E5E7EB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1">
                <a:solidFill>
                  <a:srgbClr val="111827"/>
                </a:solidFill>
                <a:latin typeface="Arial"/>
              </a:rPr>
              <a:t>Conv1</a:t>
            </a:r>
          </a:p>
          <a:p>
            <a:pPr algn="ctr"/>
            <a:r>
              <a:rPr sz="1100" b="1">
                <a:solidFill>
                  <a:srgbClr val="111827"/>
                </a:solidFill>
                <a:latin typeface="Arial"/>
              </a:rPr>
              <a:t>7 x 7 / s2</a:t>
            </a:r>
          </a:p>
          <a:p>
            <a:pPr algn="ctr"/>
            <a:r>
              <a:rPr sz="1100" b="1">
                <a:solidFill>
                  <a:srgbClr val="111827"/>
                </a:solidFill>
                <a:latin typeface="Arial"/>
              </a:rPr>
              <a:t>BN + ReLU + MaxPool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59152" y="2907792"/>
            <a:ext cx="877824" cy="868680"/>
          </a:xfrm>
          <a:prstGeom prst="roundRect">
            <a:avLst>
              <a:gd name="adj" fmla="val 18000"/>
            </a:avLst>
          </a:prstGeom>
          <a:solidFill>
            <a:srgbClr val="7AA6FF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Layer1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256 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28416" y="3058668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CBAM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86784" y="2907792"/>
            <a:ext cx="877824" cy="868680"/>
          </a:xfrm>
          <a:prstGeom prst="roundRect">
            <a:avLst>
              <a:gd name="adj" fmla="val 18000"/>
            </a:avLst>
          </a:prstGeom>
          <a:solidFill>
            <a:srgbClr val="5B8FF9"/>
          </a:solidFill>
          <a:ln w="15875">
            <a:solidFill>
              <a:srgbClr val="356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Layer2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512 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6048" y="3058668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CBAM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14416" y="2907792"/>
            <a:ext cx="932688" cy="868680"/>
          </a:xfrm>
          <a:prstGeom prst="roundRect">
            <a:avLst>
              <a:gd name="adj" fmla="val 18000"/>
            </a:avLst>
          </a:prstGeom>
          <a:solidFill>
            <a:srgbClr val="4472C4"/>
          </a:solidFill>
          <a:ln w="15875">
            <a:solidFill>
              <a:srgbClr val="2447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Layer3</a:t>
            </a:r>
          </a:p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1024 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38544" y="3058668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CBAM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96912" y="2907792"/>
            <a:ext cx="932688" cy="868680"/>
          </a:xfrm>
          <a:prstGeom prst="roundRect">
            <a:avLst>
              <a:gd name="adj" fmla="val 18000"/>
            </a:avLst>
          </a:prstGeom>
          <a:solidFill>
            <a:srgbClr val="2F5597"/>
          </a:solidFill>
          <a:ln w="15875">
            <a:solidFill>
              <a:srgbClr val="1D3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Layer4</a:t>
            </a:r>
          </a:p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2048 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3058668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CBAM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79408" y="2907792"/>
            <a:ext cx="749808" cy="868680"/>
          </a:xfrm>
          <a:prstGeom prst="roundRect">
            <a:avLst>
              <a:gd name="adj" fmla="val 18000"/>
            </a:avLst>
          </a:prstGeom>
          <a:solidFill>
            <a:srgbClr val="78C59A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Global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Avg Pool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20656" y="2907792"/>
            <a:ext cx="768096" cy="868680"/>
          </a:xfrm>
          <a:prstGeom prst="roundRect">
            <a:avLst>
              <a:gd name="adj" fmla="val 18000"/>
            </a:avLst>
          </a:prstGeom>
          <a:solidFill>
            <a:srgbClr val="55B57D"/>
          </a:solidFill>
          <a:ln w="158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Dropout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 = 0.4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80192" y="2907792"/>
            <a:ext cx="530352" cy="868680"/>
          </a:xfrm>
          <a:prstGeom prst="roundRect">
            <a:avLst>
              <a:gd name="adj" fmla="val 18000"/>
            </a:avLst>
          </a:prstGeom>
          <a:solidFill>
            <a:srgbClr val="3D9D67"/>
          </a:solidFill>
          <a:ln w="15875">
            <a:solidFill>
              <a:srgbClr val="226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FC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301984" y="2907792"/>
            <a:ext cx="841248" cy="868680"/>
          </a:xfrm>
          <a:prstGeom prst="roundRect">
            <a:avLst>
              <a:gd name="adj" fmla="val 18000"/>
            </a:avLst>
          </a:prstGeom>
          <a:solidFill>
            <a:srgbClr val="2E8557"/>
          </a:solidFill>
          <a:ln w="15875">
            <a:solidFill>
              <a:srgbClr val="1F5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102-Class</a:t>
            </a:r>
          </a:p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Output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097280" y="3250692"/>
            <a:ext cx="91440" cy="182880"/>
          </a:xfrm>
          <a:prstGeom prst="rightArrow">
            <a:avLst>
              <a:gd name="adj1" fmla="val 35000"/>
              <a:gd name="adj2" fmla="val 55000"/>
            </a:avLst>
          </a:prstGeom>
          <a:solidFill>
            <a:srgbClr val="CBD5E1"/>
          </a:solidFill>
          <a:ln w="1016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2286000" y="3250692"/>
            <a:ext cx="91440" cy="182880"/>
          </a:xfrm>
          <a:prstGeom prst="rightArrow">
            <a:avLst>
              <a:gd name="adj1" fmla="val 35000"/>
              <a:gd name="adj2" fmla="val 55000"/>
            </a:avLst>
          </a:prstGeom>
          <a:solidFill>
            <a:srgbClr val="CBD5E1"/>
          </a:solidFill>
          <a:ln w="1016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3255264" y="3250692"/>
            <a:ext cx="91440" cy="182880"/>
          </a:xfrm>
          <a:prstGeom prst="rightArrow">
            <a:avLst>
              <a:gd name="adj1" fmla="val 35000"/>
              <a:gd name="adj2" fmla="val 55000"/>
            </a:avLst>
          </a:prstGeom>
          <a:solidFill>
            <a:srgbClr val="CBD5E1"/>
          </a:solidFill>
          <a:ln w="1016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3913631" y="3250692"/>
            <a:ext cx="91440" cy="182880"/>
          </a:xfrm>
          <a:prstGeom prst="rightArrow">
            <a:avLst>
              <a:gd name="adj1" fmla="val 35000"/>
              <a:gd name="adj2" fmla="val 55000"/>
            </a:avLst>
          </a:prstGeom>
          <a:solidFill>
            <a:srgbClr val="CBD5E1"/>
          </a:solidFill>
          <a:ln w="1016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4882896" y="3250692"/>
            <a:ext cx="91440" cy="182880"/>
          </a:xfrm>
          <a:prstGeom prst="rightArrow">
            <a:avLst>
              <a:gd name="adj1" fmla="val 35000"/>
              <a:gd name="adj2" fmla="val 55000"/>
            </a:avLst>
          </a:prstGeom>
          <a:solidFill>
            <a:srgbClr val="CBD5E1"/>
          </a:solidFill>
          <a:ln w="1016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5541264" y="3250692"/>
            <a:ext cx="91440" cy="182880"/>
          </a:xfrm>
          <a:prstGeom prst="rightArrow">
            <a:avLst>
              <a:gd name="adj1" fmla="val 35000"/>
              <a:gd name="adj2" fmla="val 55000"/>
            </a:avLst>
          </a:prstGeom>
          <a:solidFill>
            <a:srgbClr val="CBD5E1"/>
          </a:solidFill>
          <a:ln w="1016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6565392" y="3250692"/>
            <a:ext cx="91440" cy="182880"/>
          </a:xfrm>
          <a:prstGeom prst="rightArrow">
            <a:avLst>
              <a:gd name="adj1" fmla="val 35000"/>
              <a:gd name="adj2" fmla="val 55000"/>
            </a:avLst>
          </a:prstGeom>
          <a:solidFill>
            <a:srgbClr val="CBD5E1"/>
          </a:solidFill>
          <a:ln w="1016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7223759" y="3250692"/>
            <a:ext cx="91440" cy="182880"/>
          </a:xfrm>
          <a:prstGeom prst="rightArrow">
            <a:avLst>
              <a:gd name="adj1" fmla="val 35000"/>
              <a:gd name="adj2" fmla="val 55000"/>
            </a:avLst>
          </a:prstGeom>
          <a:solidFill>
            <a:srgbClr val="CBD5E1"/>
          </a:solidFill>
          <a:ln w="1016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8247888" y="3250692"/>
            <a:ext cx="91440" cy="182880"/>
          </a:xfrm>
          <a:prstGeom prst="rightArrow">
            <a:avLst>
              <a:gd name="adj1" fmla="val 35000"/>
              <a:gd name="adj2" fmla="val 55000"/>
            </a:avLst>
          </a:prstGeom>
          <a:solidFill>
            <a:srgbClr val="CBD5E1"/>
          </a:solidFill>
          <a:ln w="1016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8906255" y="3250692"/>
            <a:ext cx="91440" cy="182880"/>
          </a:xfrm>
          <a:prstGeom prst="rightArrow">
            <a:avLst>
              <a:gd name="adj1" fmla="val 35000"/>
              <a:gd name="adj2" fmla="val 55000"/>
            </a:avLst>
          </a:prstGeom>
          <a:solidFill>
            <a:srgbClr val="CBD5E1"/>
          </a:solidFill>
          <a:ln w="1016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9747504" y="3250692"/>
            <a:ext cx="91440" cy="182880"/>
          </a:xfrm>
          <a:prstGeom prst="rightArrow">
            <a:avLst>
              <a:gd name="adj1" fmla="val 35000"/>
              <a:gd name="adj2" fmla="val 55000"/>
            </a:avLst>
          </a:prstGeom>
          <a:solidFill>
            <a:srgbClr val="CBD5E1"/>
          </a:solidFill>
          <a:ln w="1016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10607040" y="3250692"/>
            <a:ext cx="91440" cy="182880"/>
          </a:xfrm>
          <a:prstGeom prst="rightArrow">
            <a:avLst>
              <a:gd name="adj1" fmla="val 35000"/>
              <a:gd name="adj2" fmla="val 55000"/>
            </a:avLst>
          </a:prstGeom>
          <a:solidFill>
            <a:srgbClr val="CBD5E1"/>
          </a:solidFill>
          <a:ln w="1016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11228832" y="3250692"/>
            <a:ext cx="91440" cy="182880"/>
          </a:xfrm>
          <a:prstGeom prst="rightArrow">
            <a:avLst>
              <a:gd name="adj1" fmla="val 35000"/>
              <a:gd name="adj2" fmla="val 55000"/>
            </a:avLst>
          </a:prstGeom>
          <a:solidFill>
            <a:srgbClr val="CBD5E1"/>
          </a:solidFill>
          <a:ln w="1016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0" y="2231136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Arial"/>
              </a:rPr>
              <a:t>Residual stages with CBAM enhancement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2231136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22543D"/>
                </a:solidFill>
                <a:latin typeface="Arial"/>
              </a:rPr>
              <a:t>Classification head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Arial"/>
              </a:rPr>
              <a:t>CBAM Internal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45920" y="1554480"/>
            <a:ext cx="3977639" cy="3794760"/>
          </a:xfrm>
          <a:prstGeom prst="roundRect">
            <a:avLst>
              <a:gd name="adj" fmla="val 18000"/>
            </a:avLst>
          </a:prstGeom>
          <a:solidFill>
            <a:srgbClr val="FFF7ED"/>
          </a:solidFill>
          <a:ln w="15875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09360" y="1554480"/>
            <a:ext cx="3977639" cy="3794760"/>
          </a:xfrm>
          <a:prstGeom prst="roundRect">
            <a:avLst>
              <a:gd name="adj" fmla="val 18000"/>
            </a:avLst>
          </a:prstGeom>
          <a:solidFill>
            <a:srgbClr val="F0FDF4"/>
          </a:solidFill>
          <a:ln w="1587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1664208"/>
            <a:ext cx="3246120" cy="310896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9A3412"/>
                </a:solidFill>
                <a:latin typeface="Arial"/>
              </a:rPr>
              <a:t>Channel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1664208"/>
            <a:ext cx="3337560" cy="310896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166534"/>
                </a:solidFill>
                <a:latin typeface="Arial"/>
              </a:rPr>
              <a:t>Spatial Attention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" y="2926080"/>
            <a:ext cx="960120" cy="777240"/>
          </a:xfrm>
          <a:prstGeom prst="roundRect">
            <a:avLst>
              <a:gd name="adj" fmla="val 18000"/>
            </a:avLst>
          </a:prstGeom>
          <a:solidFill>
            <a:srgbClr val="EEF2FF"/>
          </a:solidFill>
          <a:ln w="1587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250" b="1">
                <a:solidFill>
                  <a:srgbClr val="1E3A8A"/>
                </a:solidFill>
                <a:latin typeface="Arial"/>
              </a:rPr>
              <a:t>Input</a:t>
            </a:r>
          </a:p>
          <a:p>
            <a:pPr algn="ctr"/>
            <a:r>
              <a:rPr sz="1250" b="1">
                <a:solidFill>
                  <a:srgbClr val="1E3A8A"/>
                </a:solidFill>
                <a:latin typeface="Arial"/>
              </a:rPr>
              <a:t>Feature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0" y="2926080"/>
            <a:ext cx="960120" cy="777240"/>
          </a:xfrm>
          <a:prstGeom prst="roundRect">
            <a:avLst>
              <a:gd name="adj" fmla="val 18000"/>
            </a:avLst>
          </a:prstGeom>
          <a:solidFill>
            <a:srgbClr val="ECFDF5"/>
          </a:solidFill>
          <a:ln w="1587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250" b="1">
                <a:solidFill>
                  <a:srgbClr val="166534"/>
                </a:solidFill>
                <a:latin typeface="Arial"/>
              </a:rPr>
              <a:t>Output</a:t>
            </a:r>
          </a:p>
          <a:p>
            <a:pPr algn="ctr"/>
            <a:r>
              <a:rPr sz="1250" b="1">
                <a:solidFill>
                  <a:srgbClr val="166534"/>
                </a:solidFill>
                <a:latin typeface="Arial"/>
              </a:rPr>
              <a:t>Feature 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93392" y="2487168"/>
            <a:ext cx="822960" cy="43891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1">
                <a:solidFill>
                  <a:srgbClr val="334155"/>
                </a:solidFill>
                <a:latin typeface="Arial"/>
              </a:rPr>
              <a:t>AvgPool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93392" y="3749039"/>
            <a:ext cx="822960" cy="43891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1">
                <a:solidFill>
                  <a:srgbClr val="334155"/>
                </a:solidFill>
                <a:latin typeface="Arial"/>
              </a:rPr>
              <a:t>MaxPool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3054096"/>
            <a:ext cx="914400" cy="566928"/>
          </a:xfrm>
          <a:prstGeom prst="roundRect">
            <a:avLst>
              <a:gd name="adj" fmla="val 18000"/>
            </a:avLst>
          </a:prstGeom>
          <a:solidFill>
            <a:srgbClr val="FFEDD5"/>
          </a:solidFill>
          <a:ln w="1587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1">
                <a:solidFill>
                  <a:srgbClr val="9A3412"/>
                </a:solidFill>
                <a:latin typeface="Arial"/>
              </a:rPr>
              <a:t>Shared</a:t>
            </a:r>
          </a:p>
          <a:p>
            <a:pPr algn="ctr"/>
            <a:r>
              <a:rPr sz="1100" b="1">
                <a:solidFill>
                  <a:srgbClr val="9A3412"/>
                </a:solidFill>
                <a:latin typeface="Arial"/>
              </a:rPr>
              <a:t>MLP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2272" y="3054096"/>
            <a:ext cx="731520" cy="566928"/>
          </a:xfrm>
          <a:prstGeom prst="roundRect">
            <a:avLst>
              <a:gd name="adj" fmla="val 18000"/>
            </a:avLst>
          </a:prstGeom>
          <a:solidFill>
            <a:srgbClr val="FFF7ED"/>
          </a:solidFill>
          <a:ln w="15875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50" b="1">
                <a:solidFill>
                  <a:srgbClr val="9A3412"/>
                </a:solidFill>
                <a:latin typeface="Arial"/>
              </a:rPr>
              <a:t>Sigmoid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40096" y="3054096"/>
            <a:ext cx="384048" cy="566928"/>
          </a:xfrm>
          <a:prstGeom prst="roundRect">
            <a:avLst>
              <a:gd name="adj" fmla="val 18000"/>
            </a:avLst>
          </a:prstGeom>
          <a:solidFill>
            <a:srgbClr val="FED7AA"/>
          </a:solidFill>
          <a:ln w="1587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600" b="1">
                <a:solidFill>
                  <a:srgbClr val="9A3412"/>
                </a:solidFill>
                <a:latin typeface="Arial"/>
              </a:rPr>
              <a:t>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79008" y="2926080"/>
            <a:ext cx="621792" cy="777240"/>
          </a:xfrm>
          <a:prstGeom prst="roundRect">
            <a:avLst>
              <a:gd name="adj" fmla="val 18000"/>
            </a:avLst>
          </a:prstGeom>
          <a:solidFill>
            <a:srgbClr val="EFF6FF"/>
          </a:solidFill>
          <a:ln w="1587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50" b="1">
                <a:solidFill>
                  <a:srgbClr val="1E3A8A"/>
                </a:solidFill>
                <a:latin typeface="Arial"/>
              </a:rPr>
              <a:t>Refined</a:t>
            </a:r>
          </a:p>
          <a:p>
            <a:pPr algn="ctr"/>
            <a:r>
              <a:rPr sz="1050" b="1">
                <a:solidFill>
                  <a:srgbClr val="1E3A8A"/>
                </a:solidFill>
                <a:latin typeface="Arial"/>
              </a:rPr>
              <a:t>Feature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56832" y="2487168"/>
            <a:ext cx="822960" cy="43891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1">
                <a:solidFill>
                  <a:srgbClr val="334155"/>
                </a:solidFill>
                <a:latin typeface="Arial"/>
              </a:rPr>
              <a:t>AvgPool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56832" y="3749039"/>
            <a:ext cx="822960" cy="43891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1">
                <a:solidFill>
                  <a:srgbClr val="334155"/>
                </a:solidFill>
                <a:latin typeface="Arial"/>
              </a:rPr>
              <a:t>MaxPool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3054096"/>
            <a:ext cx="713232" cy="566928"/>
          </a:xfrm>
          <a:prstGeom prst="roundRect">
            <a:avLst>
              <a:gd name="adj" fmla="val 18000"/>
            </a:avLst>
          </a:prstGeom>
          <a:solidFill>
            <a:srgbClr val="DCFCE7"/>
          </a:solidFill>
          <a:ln w="1587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50" b="1">
                <a:solidFill>
                  <a:srgbClr val="166534"/>
                </a:solidFill>
                <a:latin typeface="Arial"/>
              </a:rPr>
              <a:t>Concat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96528" y="3054096"/>
            <a:ext cx="877824" cy="566928"/>
          </a:xfrm>
          <a:prstGeom prst="roundRect">
            <a:avLst>
              <a:gd name="adj" fmla="val 18000"/>
            </a:avLst>
          </a:prstGeom>
          <a:solidFill>
            <a:srgbClr val="BBF7D0"/>
          </a:solidFill>
          <a:ln w="1587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50" b="1">
                <a:solidFill>
                  <a:srgbClr val="166534"/>
                </a:solidFill>
                <a:latin typeface="Arial"/>
              </a:rPr>
              <a:t>7 x 7 Conv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57232" y="3054096"/>
            <a:ext cx="731520" cy="566928"/>
          </a:xfrm>
          <a:prstGeom prst="roundRect">
            <a:avLst>
              <a:gd name="adj" fmla="val 18000"/>
            </a:avLst>
          </a:prstGeom>
          <a:solidFill>
            <a:srgbClr val="F0FDF4"/>
          </a:solidFill>
          <a:ln w="1587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50" b="1">
                <a:solidFill>
                  <a:srgbClr val="166534"/>
                </a:solidFill>
                <a:latin typeface="Arial"/>
              </a:rPr>
              <a:t>Sigmoid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698480" y="3054096"/>
            <a:ext cx="384048" cy="566928"/>
          </a:xfrm>
          <a:prstGeom prst="roundRect">
            <a:avLst>
              <a:gd name="adj" fmla="val 18000"/>
            </a:avLst>
          </a:prstGeom>
          <a:solidFill>
            <a:srgbClr val="86EFAC"/>
          </a:solidFill>
          <a:ln w="1587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600" b="1">
                <a:solidFill>
                  <a:srgbClr val="166534"/>
                </a:solidFill>
                <a:latin typeface="Arial"/>
              </a:rPr>
              <a:t>x</a:t>
            </a:r>
          </a:p>
        </p:txBody>
      </p:sp>
      <p:cxnSp>
        <p:nvCxnSpPr>
          <p:cNvPr id="21" name="Connector 20"/>
          <p:cNvCxnSpPr>
            <a:stCxn id="7" idx="3"/>
            <a:endCxn id="9" idx="1"/>
          </p:cNvCxnSpPr>
          <p:nvPr/>
        </p:nvCxnSpPr>
        <p:spPr>
          <a:xfrm flipV="1">
            <a:off x="1216152" y="2706624"/>
            <a:ext cx="777240" cy="608076"/>
          </a:xfrm>
          <a:prstGeom prst="line">
            <a:avLst/>
          </a:prstGeom>
          <a:ln w="1397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7" idx="3"/>
            <a:endCxn id="10" idx="1"/>
          </p:cNvCxnSpPr>
          <p:nvPr/>
        </p:nvCxnSpPr>
        <p:spPr>
          <a:xfrm>
            <a:off x="1216152" y="3314700"/>
            <a:ext cx="777240" cy="653795"/>
          </a:xfrm>
          <a:prstGeom prst="line">
            <a:avLst/>
          </a:prstGeom>
          <a:ln w="1397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9" idx="3"/>
            <a:endCxn id="11" idx="1"/>
          </p:cNvCxnSpPr>
          <p:nvPr/>
        </p:nvCxnSpPr>
        <p:spPr>
          <a:xfrm>
            <a:off x="2816352" y="2706624"/>
            <a:ext cx="457200" cy="630936"/>
          </a:xfrm>
          <a:prstGeom prst="line">
            <a:avLst/>
          </a:prstGeom>
          <a:ln w="1397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10" idx="3"/>
            <a:endCxn id="11" idx="1"/>
          </p:cNvCxnSpPr>
          <p:nvPr/>
        </p:nvCxnSpPr>
        <p:spPr>
          <a:xfrm flipV="1">
            <a:off x="2816352" y="3337560"/>
            <a:ext cx="457200" cy="630935"/>
          </a:xfrm>
          <a:prstGeom prst="line">
            <a:avLst/>
          </a:prstGeom>
          <a:ln w="1397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14" idx="3"/>
            <a:endCxn id="15" idx="1"/>
          </p:cNvCxnSpPr>
          <p:nvPr/>
        </p:nvCxnSpPr>
        <p:spPr>
          <a:xfrm flipV="1">
            <a:off x="6400800" y="2706624"/>
            <a:ext cx="256032" cy="608076"/>
          </a:xfrm>
          <a:prstGeom prst="line">
            <a:avLst/>
          </a:prstGeom>
          <a:ln w="1397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14" idx="3"/>
            <a:endCxn id="16" idx="1"/>
          </p:cNvCxnSpPr>
          <p:nvPr/>
        </p:nvCxnSpPr>
        <p:spPr>
          <a:xfrm>
            <a:off x="6400800" y="3314700"/>
            <a:ext cx="256032" cy="653795"/>
          </a:xfrm>
          <a:prstGeom prst="line">
            <a:avLst/>
          </a:prstGeom>
          <a:ln w="1397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15" idx="3"/>
            <a:endCxn id="17" idx="1"/>
          </p:cNvCxnSpPr>
          <p:nvPr/>
        </p:nvCxnSpPr>
        <p:spPr>
          <a:xfrm>
            <a:off x="7479792" y="2706624"/>
            <a:ext cx="429768" cy="630936"/>
          </a:xfrm>
          <a:prstGeom prst="line">
            <a:avLst/>
          </a:prstGeom>
          <a:ln w="1397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16" idx="3"/>
            <a:endCxn id="17" idx="1"/>
          </p:cNvCxnSpPr>
          <p:nvPr/>
        </p:nvCxnSpPr>
        <p:spPr>
          <a:xfrm flipV="1">
            <a:off x="7479792" y="3337560"/>
            <a:ext cx="429768" cy="630935"/>
          </a:xfrm>
          <a:prstGeom prst="line">
            <a:avLst/>
          </a:prstGeom>
          <a:ln w="1397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197864" y="2706624"/>
            <a:ext cx="795528" cy="608076"/>
          </a:xfrm>
          <a:prstGeom prst="line">
            <a:avLst/>
          </a:prstGeom>
          <a:ln w="1397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97864" y="3314700"/>
            <a:ext cx="795528" cy="653796"/>
          </a:xfrm>
          <a:prstGeom prst="line">
            <a:avLst/>
          </a:prstGeom>
          <a:ln w="1397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816352" y="2706624"/>
            <a:ext cx="457200" cy="630936"/>
          </a:xfrm>
          <a:prstGeom prst="line">
            <a:avLst/>
          </a:prstGeom>
          <a:ln w="1397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816352" y="3337560"/>
            <a:ext cx="457200" cy="630936"/>
          </a:xfrm>
          <a:prstGeom prst="line">
            <a:avLst/>
          </a:prstGeom>
          <a:ln w="1397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6400800" y="2706624"/>
            <a:ext cx="256032" cy="608076"/>
          </a:xfrm>
          <a:prstGeom prst="line">
            <a:avLst/>
          </a:prstGeom>
          <a:ln w="1397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400800" y="3314700"/>
            <a:ext cx="256032" cy="653796"/>
          </a:xfrm>
          <a:prstGeom prst="line">
            <a:avLst/>
          </a:prstGeom>
          <a:ln w="1397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479792" y="2706624"/>
            <a:ext cx="429768" cy="630936"/>
          </a:xfrm>
          <a:prstGeom prst="line">
            <a:avLst/>
          </a:prstGeom>
          <a:ln w="1397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479792" y="3337560"/>
            <a:ext cx="429768" cy="630936"/>
          </a:xfrm>
          <a:prstGeom prst="line">
            <a:avLst/>
          </a:prstGeom>
          <a:ln w="1397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ight Arrow 36"/>
          <p:cNvSpPr/>
          <p:nvPr/>
        </p:nvSpPr>
        <p:spPr>
          <a:xfrm>
            <a:off x="4206240" y="3264408"/>
            <a:ext cx="237744" cy="146304"/>
          </a:xfrm>
          <a:prstGeom prst="rightArrow">
            <a:avLst>
              <a:gd name="adj1" fmla="val 35000"/>
              <a:gd name="adj2" fmla="val 55000"/>
            </a:avLst>
          </a:prstGeom>
          <a:solidFill>
            <a:srgbClr val="CBD5E1"/>
          </a:solidFill>
          <a:ln w="1016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ight Arrow 37"/>
          <p:cNvSpPr/>
          <p:nvPr/>
        </p:nvSpPr>
        <p:spPr>
          <a:xfrm>
            <a:off x="5212079" y="3264408"/>
            <a:ext cx="109728" cy="146304"/>
          </a:xfrm>
          <a:prstGeom prst="rightArrow">
            <a:avLst>
              <a:gd name="adj1" fmla="val 35000"/>
              <a:gd name="adj2" fmla="val 55000"/>
            </a:avLst>
          </a:prstGeom>
          <a:solidFill>
            <a:srgbClr val="CBD5E1"/>
          </a:solidFill>
          <a:ln w="1016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ight Arrow 38"/>
          <p:cNvSpPr/>
          <p:nvPr/>
        </p:nvSpPr>
        <p:spPr>
          <a:xfrm>
            <a:off x="5742431" y="3264408"/>
            <a:ext cx="73152" cy="146304"/>
          </a:xfrm>
          <a:prstGeom prst="rightArrow">
            <a:avLst>
              <a:gd name="adj1" fmla="val 35000"/>
              <a:gd name="adj2" fmla="val 55000"/>
            </a:avLst>
          </a:prstGeom>
          <a:solidFill>
            <a:srgbClr val="CBD5E1"/>
          </a:solidFill>
          <a:ln w="1016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ight Arrow 39"/>
          <p:cNvSpPr/>
          <p:nvPr/>
        </p:nvSpPr>
        <p:spPr>
          <a:xfrm>
            <a:off x="8641080" y="3264408"/>
            <a:ext cx="137160" cy="146304"/>
          </a:xfrm>
          <a:prstGeom prst="rightArrow">
            <a:avLst>
              <a:gd name="adj1" fmla="val 35000"/>
              <a:gd name="adj2" fmla="val 55000"/>
            </a:avLst>
          </a:prstGeom>
          <a:solidFill>
            <a:srgbClr val="CBD5E1"/>
          </a:solidFill>
          <a:ln w="1016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ight Arrow 40"/>
          <p:cNvSpPr/>
          <p:nvPr/>
        </p:nvSpPr>
        <p:spPr>
          <a:xfrm>
            <a:off x="9692639" y="3264408"/>
            <a:ext cx="146304" cy="146304"/>
          </a:xfrm>
          <a:prstGeom prst="rightArrow">
            <a:avLst>
              <a:gd name="adj1" fmla="val 35000"/>
              <a:gd name="adj2" fmla="val 55000"/>
            </a:avLst>
          </a:prstGeom>
          <a:solidFill>
            <a:srgbClr val="CBD5E1"/>
          </a:solidFill>
          <a:ln w="1016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ight Arrow 41"/>
          <p:cNvSpPr/>
          <p:nvPr/>
        </p:nvSpPr>
        <p:spPr>
          <a:xfrm>
            <a:off x="10607040" y="3264408"/>
            <a:ext cx="73152" cy="146304"/>
          </a:xfrm>
          <a:prstGeom prst="rightArrow">
            <a:avLst>
              <a:gd name="adj1" fmla="val 35000"/>
              <a:gd name="adj2" fmla="val 55000"/>
            </a:avLst>
          </a:prstGeom>
          <a:solidFill>
            <a:srgbClr val="CBD5E1"/>
          </a:solidFill>
          <a:ln w="1016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ight Arrow 42"/>
          <p:cNvSpPr/>
          <p:nvPr/>
        </p:nvSpPr>
        <p:spPr>
          <a:xfrm>
            <a:off x="11100815" y="3264408"/>
            <a:ext cx="73152" cy="146304"/>
          </a:xfrm>
          <a:prstGeom prst="rightArrow">
            <a:avLst>
              <a:gd name="adj1" fmla="val 35000"/>
              <a:gd name="adj2" fmla="val 55000"/>
            </a:avLst>
          </a:prstGeom>
          <a:solidFill>
            <a:srgbClr val="CBD5E1"/>
          </a:solidFill>
          <a:ln w="1016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20240" y="568756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1150" b="0">
                <a:solidFill>
                  <a:srgbClr val="475569"/>
                </a:solidFill>
                <a:latin typeface="Arial"/>
              </a:rPr>
              <a:t>Sequential attention: channel refinement first, then spatial refinement.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