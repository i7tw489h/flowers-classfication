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4000" y="270000"/>
            <a:ext cx="3600000" cy="288000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l"/>
            <a:r>
              <a:rPr b="1" sz="1800">
                <a:solidFill>
                  <a:srgbClr val="111111"/>
                </a:solidFill>
                <a:latin typeface="Arial"/>
              </a:rPr>
              <a:t>Network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-1200600" y="3177000"/>
            <a:ext cx="1007999" cy="900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b="1" sz="1000">
                <a:solidFill>
                  <a:srgbClr val="222222"/>
                </a:solidFill>
                <a:latin typeface="Arial"/>
              </a:rPr>
              <a:t>Input</a:t>
            </a:r>
          </a:p>
          <a:p>
            <a:pPr algn="ctr"/>
            <a:r>
              <a:rPr b="1" sz="1000">
                <a:solidFill>
                  <a:srgbClr val="222222"/>
                </a:solidFill>
                <a:latin typeface="Arial"/>
              </a:rPr>
              <a:t>224x224x3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-19800" y="3177000"/>
            <a:ext cx="1260000" cy="900000"/>
          </a:xfrm>
          <a:prstGeom prst="roundRect">
            <a:avLst>
              <a:gd name="adj" fmla="val 14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b="1" sz="1000">
                <a:solidFill>
                  <a:srgbClr val="222222"/>
                </a:solidFill>
                <a:latin typeface="Arial"/>
              </a:rPr>
              <a:t>Conv1</a:t>
            </a:r>
          </a:p>
          <a:p>
            <a:pPr algn="ctr"/>
            <a:r>
              <a:rPr b="1" sz="1000">
                <a:solidFill>
                  <a:srgbClr val="222222"/>
                </a:solidFill>
                <a:latin typeface="Arial"/>
              </a:rPr>
              <a:t>7x7,s2,BN,ReLU,</a:t>
            </a:r>
          </a:p>
          <a:p>
            <a:pPr algn="ctr"/>
            <a:r>
              <a:rPr b="1" sz="1000">
                <a:solidFill>
                  <a:srgbClr val="222222"/>
                </a:solidFill>
                <a:latin typeface="Arial"/>
              </a:rPr>
              <a:t>MaxPool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2999" y="3177000"/>
            <a:ext cx="900000" cy="900000"/>
          </a:xfrm>
          <a:prstGeom prst="roundRect">
            <a:avLst>
              <a:gd name="adj" fmla="val 14000"/>
            </a:avLst>
          </a:prstGeom>
          <a:solidFill>
            <a:srgbClr val="4A90D9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Layer1</a:t>
            </a:r>
          </a:p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256 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85800" y="3177000"/>
            <a:ext cx="720000" cy="900000"/>
          </a:xfrm>
          <a:prstGeom prst="roundRect">
            <a:avLst>
              <a:gd name="adj" fmla="val 14000"/>
            </a:avLst>
          </a:prstGeom>
          <a:solidFill>
            <a:srgbClr val="F5A623"/>
          </a:solidFill>
          <a:ln w="127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CBAM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78600" y="3177000"/>
            <a:ext cx="900000" cy="900000"/>
          </a:xfrm>
          <a:prstGeom prst="roundRect">
            <a:avLst>
              <a:gd name="adj" fmla="val 14000"/>
            </a:avLst>
          </a:prstGeom>
          <a:solidFill>
            <a:srgbClr val="3B7DD8"/>
          </a:solidFill>
          <a:ln w="12700">
            <a:solidFill>
              <a:srgbClr val="3B7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Layer2</a:t>
            </a:r>
          </a:p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512 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1400" y="3177000"/>
            <a:ext cx="720000" cy="900000"/>
          </a:xfrm>
          <a:prstGeom prst="roundRect">
            <a:avLst>
              <a:gd name="adj" fmla="val 14000"/>
            </a:avLst>
          </a:prstGeom>
          <a:solidFill>
            <a:srgbClr val="F5A623"/>
          </a:solidFill>
          <a:ln w="127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CBAM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44200" y="3177000"/>
            <a:ext cx="900000" cy="900000"/>
          </a:xfrm>
          <a:prstGeom prst="roundRect">
            <a:avLst>
              <a:gd name="adj" fmla="val 14000"/>
            </a:avLst>
          </a:prstGeom>
          <a:solidFill>
            <a:srgbClr val="2C6AB7"/>
          </a:solidFill>
          <a:ln w="12700">
            <a:solidFill>
              <a:srgbClr val="2C6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Layer3</a:t>
            </a:r>
          </a:p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1024 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17000" y="3177000"/>
            <a:ext cx="720000" cy="900000"/>
          </a:xfrm>
          <a:prstGeom prst="roundRect">
            <a:avLst>
              <a:gd name="adj" fmla="val 14000"/>
            </a:avLst>
          </a:prstGeom>
          <a:solidFill>
            <a:srgbClr val="F5A623"/>
          </a:solidFill>
          <a:ln w="127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CBAM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09800" y="3177000"/>
            <a:ext cx="900000" cy="900000"/>
          </a:xfrm>
          <a:prstGeom prst="roundRect">
            <a:avLst>
              <a:gd name="adj" fmla="val 14000"/>
            </a:avLst>
          </a:prstGeom>
          <a:solidFill>
            <a:srgbClr val="1D5796"/>
          </a:solidFill>
          <a:ln w="12700">
            <a:solidFill>
              <a:srgbClr val="1D57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Layer4</a:t>
            </a:r>
          </a:p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2048 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82600" y="3177000"/>
            <a:ext cx="720000" cy="900000"/>
          </a:xfrm>
          <a:prstGeom prst="roundRect">
            <a:avLst>
              <a:gd name="adj" fmla="val 14000"/>
            </a:avLst>
          </a:prstGeom>
          <a:solidFill>
            <a:srgbClr val="F5A623"/>
          </a:solidFill>
          <a:ln w="127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CBAM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75400" y="3177000"/>
            <a:ext cx="900000" cy="900000"/>
          </a:xfrm>
          <a:prstGeom prst="roundRect">
            <a:avLst>
              <a:gd name="adj" fmla="val 14000"/>
            </a:avLst>
          </a:prstGeom>
          <a:solidFill>
            <a:srgbClr val="7ED321"/>
          </a:solidFill>
          <a:ln w="12700">
            <a:solidFill>
              <a:srgbClr val="7ED3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GAP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348200" y="3177000"/>
            <a:ext cx="900000" cy="900000"/>
          </a:xfrm>
          <a:prstGeom prst="roundRect">
            <a:avLst>
              <a:gd name="adj" fmla="val 14000"/>
            </a:avLst>
          </a:prstGeom>
          <a:solidFill>
            <a:srgbClr val="7ED321"/>
          </a:solidFill>
          <a:ln w="12700">
            <a:solidFill>
              <a:srgbClr val="7ED3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Dropout</a:t>
            </a:r>
          </a:p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0.4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21000" y="3177000"/>
            <a:ext cx="900000" cy="900000"/>
          </a:xfrm>
          <a:prstGeom prst="roundRect">
            <a:avLst>
              <a:gd name="adj" fmla="val 14000"/>
            </a:avLst>
          </a:prstGeom>
          <a:solidFill>
            <a:srgbClr val="7ED321"/>
          </a:solidFill>
          <a:ln w="12700">
            <a:solidFill>
              <a:srgbClr val="7ED3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FC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493800" y="3177000"/>
            <a:ext cx="900000" cy="900000"/>
          </a:xfrm>
          <a:prstGeom prst="roundRect">
            <a:avLst>
              <a:gd name="adj" fmla="val 14000"/>
            </a:avLst>
          </a:prstGeom>
          <a:solidFill>
            <a:srgbClr val="7ED321"/>
          </a:solidFill>
          <a:ln w="12700">
            <a:solidFill>
              <a:srgbClr val="7ED3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102</a:t>
            </a:r>
          </a:p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Classes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-156601" y="3626999"/>
            <a:ext cx="100801" cy="0"/>
          </a:xfrm>
          <a:prstGeom prst="line">
            <a:avLst/>
          </a:prstGeom>
          <a:ln w="12700">
            <a:solidFill>
              <a:srgbClr val="000000"/>
            </a:solidFill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276200" y="3626999"/>
            <a:ext cx="100799" cy="0"/>
          </a:xfrm>
          <a:prstGeom prst="line">
            <a:avLst/>
          </a:prstGeom>
          <a:ln w="12700">
            <a:solidFill>
              <a:srgbClr val="000000"/>
            </a:solidFill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348999" y="3626999"/>
            <a:ext cx="100801" cy="0"/>
          </a:xfrm>
          <a:prstGeom prst="line">
            <a:avLst/>
          </a:prstGeom>
          <a:ln w="12700">
            <a:solidFill>
              <a:srgbClr val="000000"/>
            </a:solidFill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241800" y="3626999"/>
            <a:ext cx="100800" cy="0"/>
          </a:xfrm>
          <a:prstGeom prst="line">
            <a:avLst/>
          </a:prstGeom>
          <a:ln w="12700">
            <a:solidFill>
              <a:srgbClr val="000000"/>
            </a:solidFill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314600" y="3626999"/>
            <a:ext cx="100800" cy="0"/>
          </a:xfrm>
          <a:prstGeom prst="line">
            <a:avLst/>
          </a:prstGeom>
          <a:ln w="12700">
            <a:solidFill>
              <a:srgbClr val="000000"/>
            </a:solidFill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207400" y="3626999"/>
            <a:ext cx="100800" cy="0"/>
          </a:xfrm>
          <a:prstGeom prst="line">
            <a:avLst/>
          </a:prstGeom>
          <a:ln w="12700">
            <a:solidFill>
              <a:srgbClr val="000000"/>
            </a:solidFill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80200" y="3626999"/>
            <a:ext cx="100799" cy="0"/>
          </a:xfrm>
          <a:prstGeom prst="line">
            <a:avLst/>
          </a:prstGeom>
          <a:ln w="12700">
            <a:solidFill>
              <a:srgbClr val="000000"/>
            </a:solidFill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173000" y="3626999"/>
            <a:ext cx="100799" cy="0"/>
          </a:xfrm>
          <a:prstGeom prst="line">
            <a:avLst/>
          </a:prstGeom>
          <a:ln w="12700">
            <a:solidFill>
              <a:srgbClr val="000000"/>
            </a:solidFill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245800" y="3626999"/>
            <a:ext cx="100800" cy="0"/>
          </a:xfrm>
          <a:prstGeom prst="line">
            <a:avLst/>
          </a:prstGeom>
          <a:ln w="12700">
            <a:solidFill>
              <a:srgbClr val="000000"/>
            </a:solidFill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138600" y="3626999"/>
            <a:ext cx="100800" cy="0"/>
          </a:xfrm>
          <a:prstGeom prst="line">
            <a:avLst/>
          </a:prstGeom>
          <a:ln w="12700">
            <a:solidFill>
              <a:srgbClr val="000000"/>
            </a:solidFill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211400" y="3626999"/>
            <a:ext cx="100800" cy="0"/>
          </a:xfrm>
          <a:prstGeom prst="line">
            <a:avLst/>
          </a:prstGeom>
          <a:ln w="12700">
            <a:solidFill>
              <a:srgbClr val="000000"/>
            </a:solidFill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1284200" y="3626999"/>
            <a:ext cx="100800" cy="0"/>
          </a:xfrm>
          <a:prstGeom prst="line">
            <a:avLst/>
          </a:prstGeom>
          <a:ln w="12700">
            <a:solidFill>
              <a:srgbClr val="000000"/>
            </a:solidFill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2357000" y="3626999"/>
            <a:ext cx="100799" cy="0"/>
          </a:xfrm>
          <a:prstGeom prst="line">
            <a:avLst/>
          </a:prstGeom>
          <a:ln w="12700">
            <a:solidFill>
              <a:srgbClr val="000000"/>
            </a:solidFill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4000" y="270000"/>
            <a:ext cx="2880000" cy="288000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l"/>
            <a:r>
              <a:rPr b="1" sz="1800">
                <a:solidFill>
                  <a:srgbClr val="111111"/>
                </a:solidFill>
                <a:latin typeface="Arial"/>
              </a:rPr>
              <a:t>CBAM Internal 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32000" y="827999"/>
            <a:ext cx="5328000" cy="4356000"/>
          </a:xfrm>
          <a:prstGeom prst="roundRect">
            <a:avLst>
              <a:gd name="adj" fmla="val 9000"/>
            </a:avLst>
          </a:prstGeom>
          <a:solidFill>
            <a:srgbClr val="FFF5E6"/>
          </a:solidFill>
          <a:ln w="12700">
            <a:solidFill>
              <a:srgbClr val="DDA15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22000" y="827999"/>
            <a:ext cx="5436000" cy="4356000"/>
          </a:xfrm>
          <a:prstGeom prst="roundRect">
            <a:avLst>
              <a:gd name="adj" fmla="val 9000"/>
            </a:avLst>
          </a:prstGeom>
          <a:solidFill>
            <a:srgbClr val="F0FFF0"/>
          </a:solidFill>
          <a:ln w="12700">
            <a:solidFill>
              <a:srgbClr val="8CBF8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0" y="917999"/>
            <a:ext cx="2520000" cy="251999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b="1" sz="1400">
                <a:solidFill>
                  <a:srgbClr val="8A4F08"/>
                </a:solidFill>
                <a:latin typeface="Arial"/>
              </a:rPr>
              <a:t>Channel 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60000" y="917999"/>
            <a:ext cx="2520000" cy="251999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b="1" sz="1400">
                <a:solidFill>
                  <a:srgbClr val="2D6B2D"/>
                </a:solidFill>
                <a:latin typeface="Arial"/>
              </a:rPr>
              <a:t>Spatial Attention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4000" y="2682000"/>
            <a:ext cx="1007999" cy="540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b="1" sz="1000">
                <a:solidFill>
                  <a:srgbClr val="222222"/>
                </a:solidFill>
                <a:latin typeface="Arial"/>
              </a:rPr>
              <a:t>Input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08000" y="1872000"/>
            <a:ext cx="900000" cy="540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A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b="1" sz="1000">
                <a:solidFill>
                  <a:srgbClr val="444444"/>
                </a:solidFill>
                <a:latin typeface="Arial"/>
              </a:rPr>
              <a:t>AvgPool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08000" y="3366000"/>
            <a:ext cx="900000" cy="540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A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b="1" sz="1000">
                <a:solidFill>
                  <a:srgbClr val="444444"/>
                </a:solidFill>
                <a:latin typeface="Arial"/>
              </a:rPr>
              <a:t>MaxPool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0000" y="2682000"/>
            <a:ext cx="900000" cy="540000"/>
          </a:xfrm>
          <a:prstGeom prst="roundRect">
            <a:avLst>
              <a:gd name="adj" fmla="val 14000"/>
            </a:avLst>
          </a:prstGeom>
          <a:solidFill>
            <a:srgbClr val="FCE5C7"/>
          </a:solidFill>
          <a:ln w="12700">
            <a:solidFill>
              <a:srgbClr val="E2A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b="1" sz="1000">
                <a:solidFill>
                  <a:srgbClr val="8A4F08"/>
                </a:solidFill>
                <a:latin typeface="Arial"/>
              </a:rPr>
              <a:t>Shared MLP</a:t>
            </a:r>
          </a:p>
        </p:txBody>
      </p:sp>
      <p:sp>
        <p:nvSpPr>
          <p:cNvPr id="11" name="Oval 10"/>
          <p:cNvSpPr/>
          <p:nvPr/>
        </p:nvSpPr>
        <p:spPr>
          <a:xfrm>
            <a:off x="4320000" y="2826000"/>
            <a:ext cx="251999" cy="25199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A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b="1" sz="1000">
                <a:solidFill>
                  <a:srgbClr val="8A4F08"/>
                </a:solidFill>
                <a:latin typeface="Arial"/>
              </a:rPr>
              <a:t>+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70000" y="2682000"/>
            <a:ext cx="900000" cy="540000"/>
          </a:xfrm>
          <a:prstGeom prst="roundRect">
            <a:avLst>
              <a:gd name="adj" fmla="val 14000"/>
            </a:avLst>
          </a:prstGeom>
          <a:solidFill>
            <a:srgbClr val="FCE5C7"/>
          </a:solidFill>
          <a:ln w="12700">
            <a:solidFill>
              <a:srgbClr val="E2A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b="1" sz="1000">
                <a:solidFill>
                  <a:srgbClr val="8A4F08"/>
                </a:solidFill>
                <a:latin typeface="Arial"/>
              </a:rPr>
              <a:t>Sigmoid</a:t>
            </a:r>
          </a:p>
        </p:txBody>
      </p:sp>
      <p:sp>
        <p:nvSpPr>
          <p:cNvPr id="13" name="Oval 12"/>
          <p:cNvSpPr/>
          <p:nvPr/>
        </p:nvSpPr>
        <p:spPr>
          <a:xfrm>
            <a:off x="5795999" y="2826000"/>
            <a:ext cx="251999" cy="25199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A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b="1" sz="1000">
                <a:solidFill>
                  <a:srgbClr val="8A4F08"/>
                </a:solidFill>
                <a:latin typeface="Arial"/>
              </a:rPr>
              <a:t>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8000" y="2682000"/>
            <a:ext cx="1007999" cy="540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b="1" sz="1000">
                <a:solidFill>
                  <a:srgbClr val="222222"/>
                </a:solidFill>
                <a:latin typeface="Arial"/>
              </a:rPr>
              <a:t>Refined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92000" y="2951999"/>
            <a:ext cx="90000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82000" y="2142000"/>
            <a:ext cx="0" cy="809999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782000" y="2142000"/>
            <a:ext cx="126000" cy="0"/>
          </a:xfrm>
          <a:prstGeom prst="line">
            <a:avLst/>
          </a:prstGeom>
          <a:ln w="12700">
            <a:solidFill>
              <a:srgbClr val="000000"/>
            </a:solidFill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692000" y="2951999"/>
            <a:ext cx="90000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782000" y="2951999"/>
            <a:ext cx="0" cy="684001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782000" y="3636000"/>
            <a:ext cx="126000" cy="0"/>
          </a:xfrm>
          <a:prstGeom prst="line">
            <a:avLst/>
          </a:prstGeom>
          <a:ln w="12700">
            <a:solidFill>
              <a:srgbClr val="000000"/>
            </a:solidFill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808000" y="2142000"/>
            <a:ext cx="198000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006000" y="2142000"/>
            <a:ext cx="0" cy="73800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006000" y="2880000"/>
            <a:ext cx="234000" cy="0"/>
          </a:xfrm>
          <a:prstGeom prst="line">
            <a:avLst/>
          </a:prstGeom>
          <a:ln w="12700">
            <a:solidFill>
              <a:srgbClr val="000000"/>
            </a:solidFill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08000" y="3636000"/>
            <a:ext cx="198000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3006000" y="3024000"/>
            <a:ext cx="0" cy="61200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006000" y="3024000"/>
            <a:ext cx="234000" cy="0"/>
          </a:xfrm>
          <a:prstGeom prst="line">
            <a:avLst/>
          </a:prstGeom>
          <a:ln w="12700">
            <a:solidFill>
              <a:srgbClr val="000000"/>
            </a:solidFill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140000" y="2951999"/>
            <a:ext cx="180000" cy="0"/>
          </a:xfrm>
          <a:prstGeom prst="line">
            <a:avLst/>
          </a:prstGeom>
          <a:ln w="12700">
            <a:solidFill>
              <a:srgbClr val="000000"/>
            </a:solidFill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572000" y="2951999"/>
            <a:ext cx="198000" cy="0"/>
          </a:xfrm>
          <a:prstGeom prst="line">
            <a:avLst/>
          </a:prstGeom>
          <a:ln w="12700">
            <a:solidFill>
              <a:srgbClr val="000000"/>
            </a:solidFill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670000" y="2951999"/>
            <a:ext cx="126000" cy="0"/>
          </a:xfrm>
          <a:prstGeom prst="line">
            <a:avLst/>
          </a:prstGeom>
          <a:ln w="12700">
            <a:solidFill>
              <a:srgbClr val="000000"/>
            </a:solidFill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48000" y="2951999"/>
            <a:ext cx="180000" cy="0"/>
          </a:xfrm>
          <a:prstGeom prst="line">
            <a:avLst/>
          </a:prstGeom>
          <a:ln w="12700">
            <a:solidFill>
              <a:srgbClr val="000000"/>
            </a:solidFill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192000" y="2682000"/>
            <a:ext cx="1007999" cy="540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b="1" sz="1000">
                <a:solidFill>
                  <a:srgbClr val="222222"/>
                </a:solidFill>
                <a:latin typeface="Arial"/>
              </a:rPr>
              <a:t>Input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80000" y="1872000"/>
            <a:ext cx="900000" cy="540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81B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b="1" sz="1000">
                <a:solidFill>
                  <a:srgbClr val="355F35"/>
                </a:solidFill>
                <a:latin typeface="Arial"/>
              </a:rPr>
              <a:t>AvgPool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80000" y="3366000"/>
            <a:ext cx="900000" cy="540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81B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b="1" sz="1000">
                <a:solidFill>
                  <a:srgbClr val="355F35"/>
                </a:solidFill>
                <a:latin typeface="Arial"/>
              </a:rPr>
              <a:t>MaxPool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94000" y="2682000"/>
            <a:ext cx="900000" cy="540000"/>
          </a:xfrm>
          <a:prstGeom prst="roundRect">
            <a:avLst>
              <a:gd name="adj" fmla="val 14000"/>
            </a:avLst>
          </a:prstGeom>
          <a:solidFill>
            <a:srgbClr val="DDF3DD"/>
          </a:solidFill>
          <a:ln w="12700">
            <a:solidFill>
              <a:srgbClr val="81B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b="1" sz="1000">
                <a:solidFill>
                  <a:srgbClr val="355F35"/>
                </a:solidFill>
                <a:latin typeface="Arial"/>
              </a:rPr>
              <a:t>Concat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846000" y="2682000"/>
            <a:ext cx="900000" cy="540000"/>
          </a:xfrm>
          <a:prstGeom prst="roundRect">
            <a:avLst>
              <a:gd name="adj" fmla="val 14000"/>
            </a:avLst>
          </a:prstGeom>
          <a:solidFill>
            <a:srgbClr val="DDF3DD"/>
          </a:solidFill>
          <a:ln w="12700">
            <a:solidFill>
              <a:srgbClr val="81B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b="1" sz="1000">
                <a:solidFill>
                  <a:srgbClr val="355F35"/>
                </a:solidFill>
                <a:latin typeface="Arial"/>
              </a:rPr>
              <a:t>7x7 Conv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998000" y="2682000"/>
            <a:ext cx="900000" cy="540000"/>
          </a:xfrm>
          <a:prstGeom prst="roundRect">
            <a:avLst>
              <a:gd name="adj" fmla="val 14000"/>
            </a:avLst>
          </a:prstGeom>
          <a:solidFill>
            <a:srgbClr val="DDF3DD"/>
          </a:solidFill>
          <a:ln w="12700">
            <a:solidFill>
              <a:srgbClr val="81B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b="1" sz="1000">
                <a:solidFill>
                  <a:srgbClr val="355F35"/>
                </a:solidFill>
                <a:latin typeface="Arial"/>
              </a:rPr>
              <a:t>Sigmoid</a:t>
            </a:r>
          </a:p>
        </p:txBody>
      </p:sp>
      <p:sp>
        <p:nvSpPr>
          <p:cNvPr id="37" name="Oval 36"/>
          <p:cNvSpPr/>
          <p:nvPr/>
        </p:nvSpPr>
        <p:spPr>
          <a:xfrm>
            <a:off x="11987999" y="2826000"/>
            <a:ext cx="251999" cy="25199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1B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b="1" sz="1000">
                <a:solidFill>
                  <a:srgbClr val="355F35"/>
                </a:solidFill>
                <a:latin typeface="Arial"/>
              </a:rPr>
              <a:t>x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402000" y="2682000"/>
            <a:ext cx="936000" cy="540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b="1" sz="1000">
                <a:solidFill>
                  <a:srgbClr val="222222"/>
                </a:solidFill>
                <a:latin typeface="Arial"/>
              </a:rPr>
              <a:t>Output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200000" y="2951999"/>
            <a:ext cx="72000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7272000" y="2142000"/>
            <a:ext cx="0" cy="809999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272000" y="2142000"/>
            <a:ext cx="108000" cy="0"/>
          </a:xfrm>
          <a:prstGeom prst="line">
            <a:avLst/>
          </a:prstGeom>
          <a:ln w="12700">
            <a:solidFill>
              <a:srgbClr val="000000"/>
            </a:solidFill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200000" y="2951999"/>
            <a:ext cx="72000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272000" y="2951999"/>
            <a:ext cx="0" cy="684001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272000" y="3636000"/>
            <a:ext cx="108000" cy="0"/>
          </a:xfrm>
          <a:prstGeom prst="line">
            <a:avLst/>
          </a:prstGeom>
          <a:ln w="12700">
            <a:solidFill>
              <a:srgbClr val="000000"/>
            </a:solidFill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280000" y="2142000"/>
            <a:ext cx="162000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442000" y="2142000"/>
            <a:ext cx="0" cy="73800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442000" y="2880000"/>
            <a:ext cx="252000" cy="0"/>
          </a:xfrm>
          <a:prstGeom prst="line">
            <a:avLst/>
          </a:prstGeom>
          <a:ln w="12700">
            <a:solidFill>
              <a:srgbClr val="000000"/>
            </a:solidFill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280000" y="3636000"/>
            <a:ext cx="162000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8442000" y="3024000"/>
            <a:ext cx="0" cy="61200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8442000" y="3024000"/>
            <a:ext cx="252000" cy="0"/>
          </a:xfrm>
          <a:prstGeom prst="line">
            <a:avLst/>
          </a:prstGeom>
          <a:ln w="12700">
            <a:solidFill>
              <a:srgbClr val="000000"/>
            </a:solidFill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594000" y="2951999"/>
            <a:ext cx="252000" cy="0"/>
          </a:xfrm>
          <a:prstGeom prst="line">
            <a:avLst/>
          </a:prstGeom>
          <a:ln w="12700">
            <a:solidFill>
              <a:srgbClr val="000000"/>
            </a:solidFill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746000" y="2951999"/>
            <a:ext cx="252000" cy="0"/>
          </a:xfrm>
          <a:prstGeom prst="line">
            <a:avLst/>
          </a:prstGeom>
          <a:ln w="12700">
            <a:solidFill>
              <a:srgbClr val="000000"/>
            </a:solidFill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1897999" y="2951999"/>
            <a:ext cx="90000" cy="0"/>
          </a:xfrm>
          <a:prstGeom prst="line">
            <a:avLst/>
          </a:prstGeom>
          <a:ln w="12700">
            <a:solidFill>
              <a:srgbClr val="000000"/>
            </a:solidFill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2240000" y="2951999"/>
            <a:ext cx="162000" cy="0"/>
          </a:xfrm>
          <a:prstGeom prst="line">
            <a:avLst/>
          </a:prstGeom>
          <a:ln w="12700">
            <a:solidFill>
              <a:srgbClr val="000000"/>
            </a:solidFill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655999" y="5364000"/>
            <a:ext cx="8820000" cy="198000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b="0" sz="1000">
                <a:solidFill>
                  <a:srgbClr val="555555"/>
                </a:solidFill>
                <a:latin typeface="Arial"/>
              </a:rPr>
              <a:t>Parallel pooling branches are merged before attention calibration, following the standard CBAM design.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